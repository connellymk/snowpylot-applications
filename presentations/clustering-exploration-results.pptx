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80467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Clustering Exploration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46A7B"/>
                </a:solidFill>
              </a:rPr>
              <a:t>Which slab, weak-layer, and ECT feature sets produce useful K=2 separation in SnowPylot slabs?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09560" y="804672"/>
            <a:ext cx="3529584" cy="4297680"/>
          </a:xfrm>
          <a:prstGeom prst="rect">
            <a:avLst>
              <a:gd name="adj" fmla="val 1295"/>
            </a:avLst>
          </a:prstGeom>
          <a:solidFill>
            <a:srgbClr val="FFFFFF"/>
          </a:solidFill>
          <a:ln w="10160">
            <a:solidFill>
              <a:srgbClr val="E8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1704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34,690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75320" y="16093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46A7B"/>
                </a:solidFill>
              </a:rPr>
              <a:t>usable slabs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8275320" y="212140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56A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1,381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7532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46A7B"/>
                </a:solidFill>
              </a:rPr>
              <a:t>near-avalanche slabs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275320" y="307238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K=2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75320" y="351129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46A7B"/>
                </a:solidFill>
              </a:rPr>
              <a:t>fixed comparison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58368" y="2487168"/>
            <a:ext cx="6035040" cy="0"/>
          </a:xfrm>
          <a:prstGeom prst="line">
            <a:avLst/>
          </a:prstGeom>
          <a:noFill/>
          <a:ln w="12700">
            <a:solidFill>
              <a:srgbClr val="CA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61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95"/>
                </a:solidFill>
              </a:rPr>
              <a:t>Core takeaway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090672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K-means finds two-cluster structure in several feature spaces, but near-avalanche enrichment is modest; these results are feature-set diagnostics, not a validated stable/unstable classifier.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4727448"/>
            <a:ext cx="6629400" cy="640080"/>
          </a:xfrm>
          <a:prstGeom prst="rect">
            <a:avLst>
              <a:gd name="adj" fmla="val 7143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727448"/>
            <a:ext cx="73152" cy="640080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855464"/>
            <a:ext cx="6336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</a:rPr>
              <a:t>Near-avalanche pits are known unstable examples; unlabeled pits are unknown context, not stable negatives.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Source: notebooks/clustering_exploration.ipynb; SnowPylot CAAML files from snowpits/2015_2025.</a:t>
            </a:r>
            <a:endParaRPr lang="en-US" sz="6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DATA AND LABEL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Snapshot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349447" cy="429768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357884"/>
            <a:ext cx="3221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89527" y="1325880"/>
            <a:ext cx="1725473" cy="429768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3535" y="1357884"/>
            <a:ext cx="1597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755648"/>
            <a:ext cx="3349447" cy="429768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87652"/>
            <a:ext cx="3221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Parsed SnowPylot pits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89527" y="1755648"/>
            <a:ext cx="1725473" cy="429768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3535" y="1787652"/>
            <a:ext cx="1597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50,278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185416"/>
            <a:ext cx="3349447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217420"/>
            <a:ext cx="3221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Converted mech pits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89527" y="2185416"/>
            <a:ext cx="1725473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3535" y="2217420"/>
            <a:ext cx="1597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50,278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15184"/>
            <a:ext cx="3349447" cy="429768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647188"/>
            <a:ext cx="3221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Usable slabs from layer of concern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89527" y="2615184"/>
            <a:ext cx="1725473" cy="429768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3535" y="2647188"/>
            <a:ext cx="1597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34,690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044952"/>
            <a:ext cx="3349447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076956"/>
            <a:ext cx="32214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Slabs marked near avalanche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89527" y="3044952"/>
            <a:ext cx="1725473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535" y="3076956"/>
            <a:ext cx="1597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1,381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325880"/>
            <a:ext cx="5074920" cy="2148840"/>
          </a:xfrm>
          <a:prstGeom prst="rect">
            <a:avLst>
              <a:gd name="adj" fmla="val 2128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5819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Avalanche-context status among usable slabs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10528" y="2121408"/>
            <a:ext cx="4297680" cy="292608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2121408"/>
            <a:ext cx="171090" cy="292608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6700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56A2F"/>
                </a:solidFill>
              </a:rPr>
              <a:t>Near avalanche: 1,381 slabs (4.0%)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510528" y="29535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46A7B"/>
                </a:solidFill>
              </a:rPr>
              <a:t>Unknown/not recorded: 33,309 slabs (96.0%)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40080" y="4114800"/>
            <a:ext cx="10652760" cy="804672"/>
          </a:xfrm>
          <a:prstGeom prst="rect">
            <a:avLst>
              <a:gd name="adj" fmla="val 5682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114800"/>
            <a:ext cx="73152" cy="804672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242816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</a:rPr>
              <a:t>The label is sparse and one-sided: it can identify known unstable examples, but it cannot define a clean stable class.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777240" y="5285232"/>
            <a:ext cx="10287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4213D"/>
                </a:solidFill>
              </a:rPr>
              <a:t>- Each slab is built from the layer of concern in a parsed SnowPylot pit.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4213D"/>
                </a:solidFill>
              </a:rPr>
              <a:t>- Rows marked near avalanche are used only after clustering to describe enrichment.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4213D"/>
                </a:solidFill>
              </a:rPr>
              <a:t>- Rows without a near-avalanche flag remain useful context but are not treated as stable negatives.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Notebook outputs: loading_summary_df, slab_summary_df, slab_status_counts_df.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 BACKGROUND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K-Means Framing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395728" cy="205740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73352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Standardize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679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A7B"/>
                </a:solidFill>
              </a:rPr>
              <a:t>Put all selected features on a comparable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02152" y="1417320"/>
            <a:ext cx="2395728" cy="205740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167335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6674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Partition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6744" y="2679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A7B"/>
                </a:solidFill>
              </a:rPr>
              <a:t>Assign each slab to one of two clusters.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91072" y="1417320"/>
            <a:ext cx="2395728" cy="205740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673352"/>
            <a:ext cx="384048" cy="384048"/>
          </a:xfrm>
          <a:prstGeom prst="ellipse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5566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Compare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5664" y="2679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A7B"/>
                </a:solidFill>
              </a:rPr>
              <a:t>Measure separation and near-avalanche enrichment after clustering.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79992" y="1417320"/>
            <a:ext cx="2395728" cy="205740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44584" y="1673352"/>
            <a:ext cx="384048" cy="384048"/>
          </a:xfrm>
          <a:prstGeom prst="ellipse">
            <a:avLst/>
          </a:prstGeom>
          <a:solidFill>
            <a:srgbClr val="4E8F6A"/>
          </a:solidFill>
          <a:ln w="12700">
            <a:solidFill>
              <a:srgbClr val="4E8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244584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Interpret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44584" y="2679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46A7B"/>
                </a:solidFill>
              </a:rPr>
              <a:t>Use results as feature-set diagnostics, not supervised predictions.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" y="4069080"/>
            <a:ext cx="5303520" cy="1078992"/>
          </a:xfrm>
          <a:prstGeom prst="rect">
            <a:avLst>
              <a:gd name="adj" fmla="val 4237"/>
            </a:avLst>
          </a:prstGeom>
          <a:solidFill>
            <a:srgbClr val="EDF6F5"/>
          </a:solidFill>
          <a:ln w="10160">
            <a:solidFill>
              <a:srgbClr val="BBD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315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Silhouette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4645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13D"/>
                </a:solidFill>
              </a:rPr>
              <a:t>Ranges from -1 to 1. Higher values mean slabs are closer to their assigned cluster than to the neighboring cluster.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92240" y="4069080"/>
            <a:ext cx="4800600" cy="1078992"/>
          </a:xfrm>
          <a:prstGeom prst="rect">
            <a:avLst>
              <a:gd name="adj" fmla="val 4237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6A2F"/>
                </a:solidFill>
              </a:rPr>
              <a:t>Enrichment diagnostic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46451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13D"/>
                </a:solidFill>
              </a:rPr>
              <a:t>After clustering, the cluster with the higher near-avalanche rate is called the near-avalanche enriched cluster.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K=2 is fixed across feature sets; near-avalanche status is held out from clustering inputs.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CAAML PITS TO FEATURE-SET DIAGNOSTICS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Analysis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920240" cy="1078992"/>
          </a:xfrm>
          <a:prstGeom prst="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7335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4213D"/>
                </a:solidFill>
              </a:rPr>
              <a:t>Parse CAAML pits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694944" y="20116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46A7B"/>
                </a:solidFill>
              </a:rPr>
              <a:t>50,278 parsed pits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487168" y="1737360"/>
            <a:ext cx="292608" cy="347472"/>
          </a:xfrm>
          <a:prstGeom prst="chevron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2928" y="1417320"/>
            <a:ext cx="1920240" cy="1078992"/>
          </a:xfrm>
          <a:prstGeom prst="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67335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4213D"/>
                </a:solidFill>
              </a:rPr>
              <a:t>Create slabs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2999232" y="20116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46A7B"/>
                </a:solidFill>
              </a:rPr>
              <a:t>Layer of concern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791456" y="1737360"/>
            <a:ext cx="292608" cy="347472"/>
          </a:xfrm>
          <a:prstGeom prst="chevron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7216" y="1417320"/>
            <a:ext cx="1920240" cy="1078992"/>
          </a:xfrm>
          <a:prstGeom prst="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67335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4213D"/>
                </a:solidFill>
              </a:rPr>
              <a:t>Engineer features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5303520" y="20116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46A7B"/>
                </a:solidFill>
              </a:rPr>
              <a:t>Slab, weak-layer, ECT, D11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095744" y="1737360"/>
            <a:ext cx="292608" cy="347472"/>
          </a:xfrm>
          <a:prstGeom prst="chevron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1417320"/>
            <a:ext cx="1920240" cy="1078992"/>
          </a:xfrm>
          <a:prstGeom prst="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167335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4213D"/>
                </a:solidFill>
              </a:rPr>
              <a:t>Run K=2 K-means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607808" y="20116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46A7B"/>
                </a:solidFill>
              </a:rPr>
              <a:t>Complete cases + standardization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400032" y="1737360"/>
            <a:ext cx="292608" cy="347472"/>
          </a:xfrm>
          <a:prstGeom prst="chevron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65792" y="1417320"/>
            <a:ext cx="1920240" cy="1078992"/>
          </a:xfrm>
          <a:prstGeom prst="rect">
            <a:avLst>
              <a:gd name="adj" fmla="val 4237"/>
            </a:avLst>
          </a:prstGeom>
          <a:solidFill>
            <a:srgbClr val="EDF6F5"/>
          </a:solidFill>
          <a:ln w="10160">
            <a:solidFill>
              <a:srgbClr val="BB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2096" y="167335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4213D"/>
                </a:solidFill>
              </a:rPr>
              <a:t>Compare outputs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9912096" y="201168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46A7B"/>
                </a:solidFill>
              </a:rPr>
              <a:t>Retention, silhouette, enrichment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40080" y="3337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Feature families compared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" y="3794760"/>
            <a:ext cx="91440" cy="329184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785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Slab load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578608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Thickness and slab weight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144768" y="3794760"/>
            <a:ext cx="91440" cy="3291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785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Weak-layer core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7973568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Depth, thickness, HHI, persistent grain flag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49808" y="4453128"/>
            <a:ext cx="91440" cy="329184"/>
          </a:xfrm>
          <a:prstGeom prst="rect">
            <a:avLst/>
          </a:prstGeom>
          <a:solidFill>
            <a:srgbClr val="4E8F6A"/>
          </a:solidFill>
          <a:ln w="12700">
            <a:solidFill>
              <a:srgbClr val="4E8F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4443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Combined physical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2578608" y="4443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Slab structure + weak-layer variables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144768" y="4453128"/>
            <a:ext cx="91440" cy="329184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443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Log transform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7973568" y="4443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Sensitivity to right-skewed physical features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49808" y="5111496"/>
            <a:ext cx="91440" cy="329184"/>
          </a:xfrm>
          <a:prstGeom prst="rect">
            <a:avLst/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102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ECT response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2578608" y="5102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Propagation, taps, instability index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144768" y="5111496"/>
            <a:ext cx="91440" cy="329184"/>
          </a:xfrm>
          <a:prstGeom prst="rect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5102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4213D"/>
                </a:solidFill>
              </a:rPr>
              <a:t>D11 sensitivity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7973568" y="5102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46A7B"/>
                </a:solidFill>
              </a:rPr>
              <a:t>Bending stiffness with low retained coverage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Feature sets exclude avalanche-context fields and other metadata from clustering inputs.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COMPLETE-CASE RETENTION BEFORE CLUSTERING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Coverage Drives Applicability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740457" cy="416052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266444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0537" y="1234440"/>
            <a:ext cx="1217981" cy="416052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4545" y="1266444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Non-null slabs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98518" y="1234440"/>
            <a:ext cx="1116482" cy="416052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2526" y="1266444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Coverage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1650492"/>
            <a:ext cx="2740457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682496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Slab thickness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380537" y="1650492"/>
            <a:ext cx="1217981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4545" y="1682496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34,690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598518" y="1650492"/>
            <a:ext cx="1116482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2526" y="1682496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100%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40080" y="2066544"/>
            <a:ext cx="2740457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098548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Weak-layer depth / thickness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380537" y="2066544"/>
            <a:ext cx="1217981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4545" y="2098548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34,690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598518" y="2066544"/>
            <a:ext cx="1116482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2526" y="2098548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100%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40080" y="2482596"/>
            <a:ext cx="2740457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2514600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Weak-layer HHI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380537" y="2482596"/>
            <a:ext cx="1217981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4545" y="2514600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31,316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598518" y="2482596"/>
            <a:ext cx="1116482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2526" y="2514600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90%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40080" y="2898648"/>
            <a:ext cx="2740457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2930652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Persistent grain flag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3380537" y="2898648"/>
            <a:ext cx="1217981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4545" y="2930652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31,663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598518" y="2898648"/>
            <a:ext cx="1116482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2526" y="2930652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91%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40080" y="3314700"/>
            <a:ext cx="2740457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3346704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Cumulative / mean slab HHI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3380537" y="3314700"/>
            <a:ext cx="1217981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4545" y="3346704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25,027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4598518" y="3314700"/>
            <a:ext cx="1116482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2526" y="3346704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72%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40080" y="3730752"/>
            <a:ext cx="2740457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3762756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ECT propagation / instability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3380537" y="3730752"/>
            <a:ext cx="1217981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4545" y="3762756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19,397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4598518" y="3730752"/>
            <a:ext cx="1116482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2526" y="3762756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56%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640080" y="4146804"/>
            <a:ext cx="2740457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4178808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Slab weight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3380537" y="4146804"/>
            <a:ext cx="1217981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4545" y="4178808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14,796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4598518" y="4146804"/>
            <a:ext cx="1116482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2526" y="4178808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43%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640080" y="4562856"/>
            <a:ext cx="2740457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" y="4594860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ECT mean propagating taps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3380537" y="4562856"/>
            <a:ext cx="1217981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44545" y="4594860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10,336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4598518" y="4562856"/>
            <a:ext cx="1116482" cy="416052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2526" y="4594860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30%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640080" y="4978908"/>
            <a:ext cx="2740457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" y="5010912"/>
            <a:ext cx="2612441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Bending stiffness D11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3380537" y="4978908"/>
            <a:ext cx="1217981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44545" y="5010912"/>
            <a:ext cx="1089965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1,590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4598518" y="4978908"/>
            <a:ext cx="1116482" cy="416052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62526" y="5010912"/>
            <a:ext cx="98846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5%</a:t>
            </a:r>
            <a:endParaRPr lang="en-US" sz="830" dirty="0"/>
          </a:p>
        </p:txBody>
      </p:sp>
      <p:sp>
        <p:nvSpPr>
          <p:cNvPr id="66" name="Text 64"/>
          <p:cNvSpPr/>
          <p:nvPr/>
        </p:nvSpPr>
        <p:spPr>
          <a:xfrm>
            <a:off x="6263640" y="12618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Coverage by selected feature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263640" y="1676563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Slab thickness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7479792" y="1730187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79792" y="1730187"/>
            <a:ext cx="3246120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789920" y="1676563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100%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6263640" y="2059595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WL geometry</a:t>
            </a: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7479792" y="2113219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79792" y="2113219"/>
            <a:ext cx="3246120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89920" y="2059595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100%</a:t>
            </a:r>
            <a:endParaRPr lang="en-US" sz="730" dirty="0"/>
          </a:p>
        </p:txBody>
      </p:sp>
      <p:sp>
        <p:nvSpPr>
          <p:cNvPr id="75" name="Text 73"/>
          <p:cNvSpPr/>
          <p:nvPr/>
        </p:nvSpPr>
        <p:spPr>
          <a:xfrm>
            <a:off x="6263640" y="2442627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Persistent flag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7479792" y="2496251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79792" y="2496251"/>
            <a:ext cx="2963708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789920" y="2442627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91%</a:t>
            </a:r>
            <a:endParaRPr lang="en-US" sz="730" dirty="0"/>
          </a:p>
        </p:txBody>
      </p:sp>
      <p:sp>
        <p:nvSpPr>
          <p:cNvPr id="79" name="Text 77"/>
          <p:cNvSpPr/>
          <p:nvPr/>
        </p:nvSpPr>
        <p:spPr>
          <a:xfrm>
            <a:off x="6263640" y="2825659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WL HHI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7479792" y="2879283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79792" y="2879283"/>
            <a:ext cx="2931246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789920" y="2825659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90%</a:t>
            </a:r>
            <a:endParaRPr lang="en-US" sz="730" dirty="0"/>
          </a:p>
        </p:txBody>
      </p:sp>
      <p:sp>
        <p:nvSpPr>
          <p:cNvPr id="83" name="Text 81"/>
          <p:cNvSpPr/>
          <p:nvPr/>
        </p:nvSpPr>
        <p:spPr>
          <a:xfrm>
            <a:off x="6263640" y="3208691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Slab HHI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7479792" y="3262315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79792" y="3262315"/>
            <a:ext cx="2340453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789920" y="3208691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72%</a:t>
            </a:r>
            <a:endParaRPr lang="en-US" sz="730" dirty="0"/>
          </a:p>
        </p:txBody>
      </p:sp>
      <p:sp>
        <p:nvSpPr>
          <p:cNvPr id="87" name="Text 85"/>
          <p:cNvSpPr/>
          <p:nvPr/>
        </p:nvSpPr>
        <p:spPr>
          <a:xfrm>
            <a:off x="6263640" y="3591723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ECT features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7479792" y="3645347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79792" y="3645347"/>
            <a:ext cx="1814581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789920" y="3591723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56%</a:t>
            </a:r>
            <a:endParaRPr lang="en-US" sz="730" dirty="0"/>
          </a:p>
        </p:txBody>
      </p:sp>
      <p:sp>
        <p:nvSpPr>
          <p:cNvPr id="91" name="Text 89"/>
          <p:cNvSpPr/>
          <p:nvPr/>
        </p:nvSpPr>
        <p:spPr>
          <a:xfrm>
            <a:off x="6263640" y="3974755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Slab weight</a:t>
            </a:r>
            <a:endParaRPr lang="en-US" sz="740" dirty="0"/>
          </a:p>
        </p:txBody>
      </p:sp>
      <p:sp>
        <p:nvSpPr>
          <p:cNvPr id="92" name="Shape 90"/>
          <p:cNvSpPr/>
          <p:nvPr/>
        </p:nvSpPr>
        <p:spPr>
          <a:xfrm>
            <a:off x="7479792" y="4028379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79792" y="4028379"/>
            <a:ext cx="1386093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789920" y="3974755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43%</a:t>
            </a:r>
            <a:endParaRPr lang="en-US" sz="730" dirty="0"/>
          </a:p>
        </p:txBody>
      </p:sp>
      <p:sp>
        <p:nvSpPr>
          <p:cNvPr id="95" name="Text 93"/>
          <p:cNvSpPr/>
          <p:nvPr/>
        </p:nvSpPr>
        <p:spPr>
          <a:xfrm>
            <a:off x="6263640" y="4357787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ECT prop. taps</a:t>
            </a:r>
            <a:endParaRPr lang="en-US" sz="740" dirty="0"/>
          </a:p>
        </p:txBody>
      </p:sp>
      <p:sp>
        <p:nvSpPr>
          <p:cNvPr id="96" name="Shape 94"/>
          <p:cNvSpPr/>
          <p:nvPr/>
        </p:nvSpPr>
        <p:spPr>
          <a:xfrm>
            <a:off x="7479792" y="4411411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79792" y="4411411"/>
            <a:ext cx="967344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789920" y="4357787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30%</a:t>
            </a:r>
            <a:endParaRPr lang="en-US" sz="730" dirty="0"/>
          </a:p>
        </p:txBody>
      </p:sp>
      <p:sp>
        <p:nvSpPr>
          <p:cNvPr id="99" name="Text 97"/>
          <p:cNvSpPr/>
          <p:nvPr/>
        </p:nvSpPr>
        <p:spPr>
          <a:xfrm>
            <a:off x="6263640" y="4740819"/>
            <a:ext cx="11430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</a:rPr>
              <a:t>D11</a:t>
            </a:r>
            <a:endParaRPr lang="en-US" sz="740" dirty="0"/>
          </a:p>
        </p:txBody>
      </p:sp>
      <p:sp>
        <p:nvSpPr>
          <p:cNvPr id="100" name="Shape 98"/>
          <p:cNvSpPr/>
          <p:nvPr/>
        </p:nvSpPr>
        <p:spPr>
          <a:xfrm>
            <a:off x="7479792" y="4794443"/>
            <a:ext cx="3246120" cy="137892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79792" y="4794443"/>
            <a:ext cx="149322" cy="1378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789920" y="4740819"/>
            <a:ext cx="457200" cy="268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546A7B"/>
                </a:solidFill>
              </a:rPr>
              <a:t>5%</a:t>
            </a:r>
            <a:endParaRPr lang="en-US" sz="730" dirty="0"/>
          </a:p>
        </p:txBody>
      </p:sp>
      <p:sp>
        <p:nvSpPr>
          <p:cNvPr id="103" name="Shape 101"/>
          <p:cNvSpPr/>
          <p:nvPr/>
        </p:nvSpPr>
        <p:spPr>
          <a:xfrm>
            <a:off x="640080" y="5650992"/>
            <a:ext cx="10652760" cy="566928"/>
          </a:xfrm>
          <a:prstGeom prst="rect">
            <a:avLst>
              <a:gd name="adj" fmla="val 8065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0080" y="5650992"/>
            <a:ext cx="73152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2960" y="5779008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</a:rPr>
              <a:t>Weak-layer geometry has broad coverage; ECT and D11 features are more selective, especially D11.</a:t>
            </a:r>
            <a:endParaRPr lang="en-US" sz="1020" dirty="0"/>
          </a:p>
        </p:txBody>
      </p:sp>
      <p:sp>
        <p:nvSpPr>
          <p:cNvPr id="106" name="Shape 104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Notebook outputs: feature_coverage_df and ect_coverage_df.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COMPARISON ON THE SAME RETAINED SLABS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Common-Sample Ranking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060704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46A7B"/>
                </a:solidFill>
              </a:rPr>
              <a:t>Shared complete-case sample: 3,914 slabs, 213 near-avalanche slabs, 5.44% retained baseline rate.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2659807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13332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Feature set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3208447" y="1481328"/>
            <a:ext cx="886602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2455" y="1513332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Features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4095049" y="1481328"/>
            <a:ext cx="1108253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9057" y="1513332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Slabs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5203302" y="1481328"/>
            <a:ext cx="1551554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7310" y="1513332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Near-avalanche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6754856" y="1481328"/>
            <a:ext cx="1219078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8864" y="1513332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Silhouette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7973934" y="1481328"/>
            <a:ext cx="1440729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7942" y="1513332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Enriched rate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9414662" y="1481328"/>
            <a:ext cx="997428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8670" y="1513332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Lift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10412090" y="1481328"/>
            <a:ext cx="1219078" cy="512064"/>
          </a:xfrm>
          <a:prstGeom prst="rect">
            <a:avLst/>
          </a:prstGeom>
          <a:solidFill>
            <a:srgbClr val="2E6F95"/>
          </a:solidFill>
          <a:ln w="5715">
            <a:solidFill>
              <a:srgbClr val="2E6F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76098" y="1513332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Capture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548640" y="1993392"/>
            <a:ext cx="2659807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025396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Slab load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208447" y="1993392"/>
            <a:ext cx="886602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2455" y="2025396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095049" y="1993392"/>
            <a:ext cx="1108253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9057" y="2025396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203302" y="1993392"/>
            <a:ext cx="1551554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7310" y="2025396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754856" y="1993392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8864" y="2025396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0.555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7973934" y="1993392"/>
            <a:ext cx="1440729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37942" y="2025396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5.48%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9414662" y="1993392"/>
            <a:ext cx="99742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78670" y="2025396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1.01x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10412090" y="1993392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76098" y="2025396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29.6%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48640" y="2505456"/>
            <a:ext cx="2659807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2537460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ECT response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3208447" y="2505456"/>
            <a:ext cx="886602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2455" y="2537460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4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095049" y="2505456"/>
            <a:ext cx="110825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59057" y="2537460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5203302" y="2505456"/>
            <a:ext cx="1551554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67310" y="2537460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6754856" y="2505456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8864" y="2537460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0.467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973934" y="2505456"/>
            <a:ext cx="144072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37942" y="2537460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6.37%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9414662" y="2505456"/>
            <a:ext cx="99742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78670" y="2537460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1.17x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10412090" y="2505456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76098" y="2537460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56.3%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548640" y="3017520"/>
            <a:ext cx="2659807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" y="3049524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Weak-layer core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3208447" y="3017520"/>
            <a:ext cx="886602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2455" y="3049524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4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4095049" y="3017520"/>
            <a:ext cx="1108253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59057" y="3049524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5203302" y="3017520"/>
            <a:ext cx="1551554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7310" y="3049524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6754856" y="3017520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18864" y="3049524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0.421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7973934" y="3017520"/>
            <a:ext cx="1440729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37942" y="3049524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5.58%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9414662" y="3017520"/>
            <a:ext cx="99742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78670" y="3049524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1.03x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10412090" y="3017520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76098" y="3049524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76.1%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548640" y="3529584"/>
            <a:ext cx="2659807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" y="3561588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Slab + weak layer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3208447" y="3529584"/>
            <a:ext cx="886602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72455" y="3561588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9</a:t>
            </a:r>
            <a:endParaRPr lang="en-US" sz="830" dirty="0"/>
          </a:p>
        </p:txBody>
      </p:sp>
      <p:sp>
        <p:nvSpPr>
          <p:cNvPr id="75" name="Shape 73"/>
          <p:cNvSpPr/>
          <p:nvPr/>
        </p:nvSpPr>
        <p:spPr>
          <a:xfrm>
            <a:off x="4095049" y="3529584"/>
            <a:ext cx="110825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59057" y="3561588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77" name="Shape 75"/>
          <p:cNvSpPr/>
          <p:nvPr/>
        </p:nvSpPr>
        <p:spPr>
          <a:xfrm>
            <a:off x="5203302" y="3529584"/>
            <a:ext cx="1551554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67310" y="3561588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79" name="Shape 77"/>
          <p:cNvSpPr/>
          <p:nvPr/>
        </p:nvSpPr>
        <p:spPr>
          <a:xfrm>
            <a:off x="6754856" y="3529584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18864" y="3561588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0.301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7973934" y="3529584"/>
            <a:ext cx="144072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37942" y="3561588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5.58%</a:t>
            </a:r>
            <a:endParaRPr lang="en-US" sz="830" dirty="0"/>
          </a:p>
        </p:txBody>
      </p:sp>
      <p:sp>
        <p:nvSpPr>
          <p:cNvPr id="83" name="Shape 81"/>
          <p:cNvSpPr/>
          <p:nvPr/>
        </p:nvSpPr>
        <p:spPr>
          <a:xfrm>
            <a:off x="9414662" y="3529584"/>
            <a:ext cx="99742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78670" y="3561588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1.03x</a:t>
            </a:r>
            <a:endParaRPr lang="en-US" sz="830" dirty="0"/>
          </a:p>
        </p:txBody>
      </p:sp>
      <p:sp>
        <p:nvSpPr>
          <p:cNvPr id="85" name="Shape 83"/>
          <p:cNvSpPr/>
          <p:nvPr/>
        </p:nvSpPr>
        <p:spPr>
          <a:xfrm>
            <a:off x="10412090" y="3529584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476098" y="3561588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31.0%</a:t>
            </a:r>
            <a:endParaRPr lang="en-US" sz="830" dirty="0"/>
          </a:p>
        </p:txBody>
      </p:sp>
      <p:sp>
        <p:nvSpPr>
          <p:cNvPr id="87" name="Shape 85"/>
          <p:cNvSpPr/>
          <p:nvPr/>
        </p:nvSpPr>
        <p:spPr>
          <a:xfrm>
            <a:off x="548640" y="4041648"/>
            <a:ext cx="2659807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2648" y="4073652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Log transform</a:t>
            </a:r>
            <a:endParaRPr lang="en-US" sz="830" dirty="0"/>
          </a:p>
        </p:txBody>
      </p:sp>
      <p:sp>
        <p:nvSpPr>
          <p:cNvPr id="89" name="Shape 87"/>
          <p:cNvSpPr/>
          <p:nvPr/>
        </p:nvSpPr>
        <p:spPr>
          <a:xfrm>
            <a:off x="3208447" y="4041648"/>
            <a:ext cx="886602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72455" y="4073652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9</a:t>
            </a:r>
            <a:endParaRPr lang="en-US" sz="830" dirty="0"/>
          </a:p>
        </p:txBody>
      </p:sp>
      <p:sp>
        <p:nvSpPr>
          <p:cNvPr id="91" name="Shape 89"/>
          <p:cNvSpPr/>
          <p:nvPr/>
        </p:nvSpPr>
        <p:spPr>
          <a:xfrm>
            <a:off x="4095049" y="4041648"/>
            <a:ext cx="1108253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59057" y="4073652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93" name="Shape 91"/>
          <p:cNvSpPr/>
          <p:nvPr/>
        </p:nvSpPr>
        <p:spPr>
          <a:xfrm>
            <a:off x="5203302" y="4041648"/>
            <a:ext cx="1551554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67310" y="4073652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95" name="Shape 93"/>
          <p:cNvSpPr/>
          <p:nvPr/>
        </p:nvSpPr>
        <p:spPr>
          <a:xfrm>
            <a:off x="6754856" y="4041648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18864" y="4073652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0.277</a:t>
            </a:r>
            <a:endParaRPr lang="en-US" sz="830" dirty="0"/>
          </a:p>
        </p:txBody>
      </p:sp>
      <p:sp>
        <p:nvSpPr>
          <p:cNvPr id="97" name="Shape 95"/>
          <p:cNvSpPr/>
          <p:nvPr/>
        </p:nvSpPr>
        <p:spPr>
          <a:xfrm>
            <a:off x="7973934" y="4041648"/>
            <a:ext cx="1440729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37942" y="4073652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5.91%</a:t>
            </a:r>
            <a:endParaRPr lang="en-US" sz="830" dirty="0"/>
          </a:p>
        </p:txBody>
      </p:sp>
      <p:sp>
        <p:nvSpPr>
          <p:cNvPr id="99" name="Shape 97"/>
          <p:cNvSpPr/>
          <p:nvPr/>
        </p:nvSpPr>
        <p:spPr>
          <a:xfrm>
            <a:off x="9414662" y="4041648"/>
            <a:ext cx="99742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478670" y="4073652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1.09x</a:t>
            </a:r>
            <a:endParaRPr lang="en-US" sz="830" dirty="0"/>
          </a:p>
        </p:txBody>
      </p:sp>
      <p:sp>
        <p:nvSpPr>
          <p:cNvPr id="101" name="Shape 99"/>
          <p:cNvSpPr/>
          <p:nvPr/>
        </p:nvSpPr>
        <p:spPr>
          <a:xfrm>
            <a:off x="10412090" y="4041648"/>
            <a:ext cx="1219078" cy="512064"/>
          </a:xfrm>
          <a:prstGeom prst="rect">
            <a:avLst/>
          </a:prstGeom>
          <a:solidFill>
            <a:srgbClr val="F1F6F8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476098" y="4073652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69.0%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548640" y="4553712"/>
            <a:ext cx="2659807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2648" y="4585716"/>
            <a:ext cx="25317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Slab + WL + ECT</a:t>
            </a:r>
            <a:endParaRPr lang="en-US" sz="830" dirty="0"/>
          </a:p>
        </p:txBody>
      </p:sp>
      <p:sp>
        <p:nvSpPr>
          <p:cNvPr id="105" name="Shape 103"/>
          <p:cNvSpPr/>
          <p:nvPr/>
        </p:nvSpPr>
        <p:spPr>
          <a:xfrm>
            <a:off x="3208447" y="4553712"/>
            <a:ext cx="886602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272455" y="4585716"/>
            <a:ext cx="75858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13</a:t>
            </a:r>
            <a:endParaRPr lang="en-US" sz="830" dirty="0"/>
          </a:p>
        </p:txBody>
      </p:sp>
      <p:sp>
        <p:nvSpPr>
          <p:cNvPr id="107" name="Shape 105"/>
          <p:cNvSpPr/>
          <p:nvPr/>
        </p:nvSpPr>
        <p:spPr>
          <a:xfrm>
            <a:off x="4095049" y="4553712"/>
            <a:ext cx="1108253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59057" y="4585716"/>
            <a:ext cx="98023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3,914</a:t>
            </a:r>
            <a:endParaRPr lang="en-US" sz="830" dirty="0"/>
          </a:p>
        </p:txBody>
      </p:sp>
      <p:sp>
        <p:nvSpPr>
          <p:cNvPr id="109" name="Shape 107"/>
          <p:cNvSpPr/>
          <p:nvPr/>
        </p:nvSpPr>
        <p:spPr>
          <a:xfrm>
            <a:off x="5203302" y="4553712"/>
            <a:ext cx="1551554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67310" y="4585716"/>
            <a:ext cx="1423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213</a:t>
            </a:r>
            <a:endParaRPr lang="en-US" sz="830" dirty="0"/>
          </a:p>
        </p:txBody>
      </p:sp>
      <p:sp>
        <p:nvSpPr>
          <p:cNvPr id="111" name="Shape 109"/>
          <p:cNvSpPr/>
          <p:nvPr/>
        </p:nvSpPr>
        <p:spPr>
          <a:xfrm>
            <a:off x="6754856" y="4553712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818864" y="4585716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0.227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7973934" y="4553712"/>
            <a:ext cx="1440729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37942" y="4585716"/>
            <a:ext cx="131271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5.76%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9414662" y="4553712"/>
            <a:ext cx="99742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478670" y="4585716"/>
            <a:ext cx="8694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1.06x</a:t>
            </a:r>
            <a:endParaRPr lang="en-US" sz="830" dirty="0"/>
          </a:p>
        </p:txBody>
      </p:sp>
      <p:sp>
        <p:nvSpPr>
          <p:cNvPr id="117" name="Shape 115"/>
          <p:cNvSpPr/>
          <p:nvPr/>
        </p:nvSpPr>
        <p:spPr>
          <a:xfrm>
            <a:off x="10412090" y="4553712"/>
            <a:ext cx="1219078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AD7D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476098" y="4585716"/>
            <a:ext cx="10910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14213D"/>
                </a:solidFill>
              </a:rPr>
              <a:t>62.9%</a:t>
            </a:r>
            <a:endParaRPr lang="en-US" sz="830" dirty="0"/>
          </a:p>
        </p:txBody>
      </p:sp>
      <p:sp>
        <p:nvSpPr>
          <p:cNvPr id="119" name="Shape 117"/>
          <p:cNvSpPr/>
          <p:nvPr/>
        </p:nvSpPr>
        <p:spPr>
          <a:xfrm>
            <a:off x="658368" y="5394960"/>
            <a:ext cx="5120640" cy="713232"/>
          </a:xfrm>
          <a:prstGeom prst="rect">
            <a:avLst>
              <a:gd name="adj" fmla="val 6410"/>
            </a:avLst>
          </a:prstGeom>
          <a:solidFill>
            <a:srgbClr val="EDF6F5"/>
          </a:solidFill>
          <a:ln w="10160">
            <a:solidFill>
              <a:srgbClr val="BBDDD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96112" y="55595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A9D8F"/>
                </a:solidFill>
              </a:rPr>
              <a:t>Best separation</a:t>
            </a:r>
            <a:endParaRPr lang="en-US" sz="960" dirty="0"/>
          </a:p>
        </p:txBody>
      </p:sp>
      <p:sp>
        <p:nvSpPr>
          <p:cNvPr id="121" name="Text 119"/>
          <p:cNvSpPr/>
          <p:nvPr/>
        </p:nvSpPr>
        <p:spPr>
          <a:xfrm>
            <a:off x="2212848" y="5522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Slab load has the strongest silhouette (0.555), but almost no near-avalanche lift (1.01x).</a:t>
            </a:r>
            <a:endParaRPr lang="en-US" sz="880" dirty="0"/>
          </a:p>
        </p:txBody>
      </p:sp>
      <p:sp>
        <p:nvSpPr>
          <p:cNvPr id="122" name="Shape 120"/>
          <p:cNvSpPr/>
          <p:nvPr/>
        </p:nvSpPr>
        <p:spPr>
          <a:xfrm>
            <a:off x="6053328" y="5394960"/>
            <a:ext cx="5120640" cy="713232"/>
          </a:xfrm>
          <a:prstGeom prst="rect">
            <a:avLst>
              <a:gd name="adj" fmla="val 6410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91072" y="55595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56A2F"/>
                </a:solidFill>
              </a:rPr>
              <a:t>Best enrichment</a:t>
            </a:r>
            <a:endParaRPr lang="en-US" sz="960" dirty="0"/>
          </a:p>
        </p:txBody>
      </p:sp>
      <p:sp>
        <p:nvSpPr>
          <p:cNvPr id="124" name="Text 122"/>
          <p:cNvSpPr/>
          <p:nvPr/>
        </p:nvSpPr>
        <p:spPr>
          <a:xfrm>
            <a:off x="7607808" y="5522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</a:rPr>
              <a:t>ECT response has the highest common-sample lift, but it is modest at 1.17x.</a:t>
            </a:r>
            <a:endParaRPr lang="en-US" sz="880" dirty="0"/>
          </a:p>
        </p:txBody>
      </p:sp>
      <p:sp>
        <p:nvSpPr>
          <p:cNvPr id="125" name="Shape 12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Ranked by common-sample silhouette; enrichment is measured after clustering and is not used as a clustering input.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RETENTION, SEPARATION, AND NEAR-AVALANCHE ENRICHMENT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 Figure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3639312" cy="4956048"/>
          </a:xfrm>
          <a:prstGeom prst="rect">
            <a:avLst>
              <a:gd name="adj" fmla="val 1256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1170432"/>
            <a:ext cx="3639312" cy="4956048"/>
          </a:xfrm>
          <a:prstGeom prst="rect">
            <a:avLst>
              <a:gd name="adj" fmla="val 1256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9872" y="1170432"/>
            <a:ext cx="3639312" cy="4956048"/>
          </a:xfrm>
          <a:prstGeom prst="rect">
            <a:avLst>
              <a:gd name="adj" fmla="val 1256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1732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Natural retention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839224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Weak-layer core</a:t>
            </a:r>
            <a:endParaRPr lang="en-US" sz="640" dirty="0"/>
          </a:p>
        </p:txBody>
      </p:sp>
      <p:sp>
        <p:nvSpPr>
          <p:cNvPr id="11" name="Shape 9"/>
          <p:cNvSpPr/>
          <p:nvPr/>
        </p:nvSpPr>
        <p:spPr>
          <a:xfrm>
            <a:off x="2002536" y="1905472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02536" y="1905472"/>
            <a:ext cx="1408176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839224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28,717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713232" y="2312426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Slab load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2002536" y="2378674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2536" y="2378674"/>
            <a:ext cx="725541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312426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14,796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713232" y="2785628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Slab + weak layer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2002536" y="2851876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2536" y="2851876"/>
            <a:ext cx="661353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785628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13,487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713232" y="3258830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Log transform</a:t>
            </a:r>
            <a:endParaRPr lang="en-US" sz="640" dirty="0"/>
          </a:p>
        </p:txBody>
      </p:sp>
      <p:sp>
        <p:nvSpPr>
          <p:cNvPr id="23" name="Shape 21"/>
          <p:cNvSpPr/>
          <p:nvPr/>
        </p:nvSpPr>
        <p:spPr>
          <a:xfrm>
            <a:off x="2002536" y="3325078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2536" y="3325078"/>
            <a:ext cx="661353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258830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13,487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713232" y="3732032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ECT response</a:t>
            </a:r>
            <a:endParaRPr lang="en-US" sz="640" dirty="0"/>
          </a:p>
        </p:txBody>
      </p:sp>
      <p:sp>
        <p:nvSpPr>
          <p:cNvPr id="27" name="Shape 25"/>
          <p:cNvSpPr/>
          <p:nvPr/>
        </p:nvSpPr>
        <p:spPr>
          <a:xfrm>
            <a:off x="2002536" y="3798280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2536" y="3798280"/>
            <a:ext cx="506839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732032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10,336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713232" y="4205234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Slab + WL + ECT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2002536" y="4271482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2536" y="4271482"/>
            <a:ext cx="191928" cy="170353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4205234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3,914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713232" y="4678436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D11 sensitivity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2002536" y="4744684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2536" y="4744684"/>
            <a:ext cx="76987" cy="170353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678436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1,570</a:t>
            </a:r>
            <a:endParaRPr lang="en-US" sz="630" dirty="0"/>
          </a:p>
        </p:txBody>
      </p:sp>
      <p:sp>
        <p:nvSpPr>
          <p:cNvPr id="38" name="Text 36"/>
          <p:cNvSpPr/>
          <p:nvPr/>
        </p:nvSpPr>
        <p:spPr>
          <a:xfrm>
            <a:off x="713232" y="5151638"/>
            <a:ext cx="1216152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4213D"/>
                </a:solidFill>
              </a:rPr>
              <a:t>Slab + WL + D11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2002536" y="5217886"/>
            <a:ext cx="1408176" cy="170353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02536" y="5217886"/>
            <a:ext cx="71201" cy="170353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5151638"/>
            <a:ext cx="457200" cy="33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30" dirty="0">
                <a:solidFill>
                  <a:srgbClr val="546A7B"/>
                </a:solidFill>
              </a:rPr>
              <a:t>1,452</a:t>
            </a:r>
            <a:endParaRPr lang="en-US" sz="630" dirty="0"/>
          </a:p>
        </p:txBody>
      </p:sp>
      <p:sp>
        <p:nvSpPr>
          <p:cNvPr id="42" name="Text 40"/>
          <p:cNvSpPr/>
          <p:nvPr/>
        </p:nvSpPr>
        <p:spPr>
          <a:xfrm>
            <a:off x="4526280" y="141732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Common-sample silhouette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26280" y="1851843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load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5806440" y="1940174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1940174"/>
            <a:ext cx="1311021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87768" y="1851843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0.555</a:t>
            </a:r>
            <a:endParaRPr lang="en-US" sz="640" dirty="0"/>
          </a:p>
        </p:txBody>
      </p:sp>
      <p:sp>
        <p:nvSpPr>
          <p:cNvPr id="47" name="Text 45"/>
          <p:cNvSpPr/>
          <p:nvPr/>
        </p:nvSpPr>
        <p:spPr>
          <a:xfrm>
            <a:off x="4526280" y="2482779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ECT response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5806440" y="2571110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6440" y="2571110"/>
            <a:ext cx="1103147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87768" y="2482779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0.467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4526280" y="3113715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Weak-layer core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5806440" y="3202046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06440" y="3202046"/>
            <a:ext cx="994486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113715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0.421</a:t>
            </a:r>
            <a:endParaRPr lang="en-US" sz="640" dirty="0"/>
          </a:p>
        </p:txBody>
      </p:sp>
      <p:sp>
        <p:nvSpPr>
          <p:cNvPr id="55" name="Text 53"/>
          <p:cNvSpPr/>
          <p:nvPr/>
        </p:nvSpPr>
        <p:spPr>
          <a:xfrm>
            <a:off x="4526280" y="3744651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+ weak layer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5806440" y="3832982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6440" y="3832982"/>
            <a:ext cx="711022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87768" y="3744651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0.301</a:t>
            </a:r>
            <a:endParaRPr lang="en-US" sz="640" dirty="0"/>
          </a:p>
        </p:txBody>
      </p:sp>
      <p:sp>
        <p:nvSpPr>
          <p:cNvPr id="59" name="Text 57"/>
          <p:cNvSpPr/>
          <p:nvPr/>
        </p:nvSpPr>
        <p:spPr>
          <a:xfrm>
            <a:off x="4526280" y="4375587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Log transform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5806440" y="4463918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06440" y="4463918"/>
            <a:ext cx="654329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87768" y="4375587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0.277</a:t>
            </a:r>
            <a:endParaRPr lang="en-US" sz="640" dirty="0"/>
          </a:p>
        </p:txBody>
      </p:sp>
      <p:sp>
        <p:nvSpPr>
          <p:cNvPr id="63" name="Text 61"/>
          <p:cNvSpPr/>
          <p:nvPr/>
        </p:nvSpPr>
        <p:spPr>
          <a:xfrm>
            <a:off x="4526280" y="5006523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+ WL + ECT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5806440" y="5094854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5094854"/>
            <a:ext cx="536219" cy="227137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87768" y="5006523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0.227</a:t>
            </a:r>
            <a:endParaRPr lang="en-US" sz="640" dirty="0"/>
          </a:p>
        </p:txBody>
      </p:sp>
      <p:sp>
        <p:nvSpPr>
          <p:cNvPr id="67" name="Text 65"/>
          <p:cNvSpPr/>
          <p:nvPr/>
        </p:nvSpPr>
        <p:spPr>
          <a:xfrm>
            <a:off x="8321040" y="141732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</a:rPr>
              <a:t>Near-avalanche lift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321040" y="1851843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ECT response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9601200" y="1940174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01200" y="1940174"/>
            <a:ext cx="1359233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082528" y="1851843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1.17x</a:t>
            </a:r>
            <a:endParaRPr lang="en-US" sz="640" dirty="0"/>
          </a:p>
        </p:txBody>
      </p:sp>
      <p:sp>
        <p:nvSpPr>
          <p:cNvPr id="72" name="Text 70"/>
          <p:cNvSpPr/>
          <p:nvPr/>
        </p:nvSpPr>
        <p:spPr>
          <a:xfrm>
            <a:off x="8321040" y="2482779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Log transform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9601200" y="2571110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571110"/>
            <a:ext cx="1262809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082528" y="2482779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1.09x</a:t>
            </a:r>
            <a:endParaRPr lang="en-US" sz="640" dirty="0"/>
          </a:p>
        </p:txBody>
      </p:sp>
      <p:sp>
        <p:nvSpPr>
          <p:cNvPr id="76" name="Text 74"/>
          <p:cNvSpPr/>
          <p:nvPr/>
        </p:nvSpPr>
        <p:spPr>
          <a:xfrm>
            <a:off x="8321040" y="3113715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+ WL + ECT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9601200" y="3202046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3202046"/>
            <a:ext cx="1230280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082528" y="3113715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1.06x</a:t>
            </a:r>
            <a:endParaRPr lang="en-US" sz="640" dirty="0"/>
          </a:p>
        </p:txBody>
      </p:sp>
      <p:sp>
        <p:nvSpPr>
          <p:cNvPr id="80" name="Text 78"/>
          <p:cNvSpPr/>
          <p:nvPr/>
        </p:nvSpPr>
        <p:spPr>
          <a:xfrm>
            <a:off x="8321040" y="3744651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+ weak layer</a:t>
            </a:r>
            <a:endParaRPr lang="en-US" sz="660" dirty="0"/>
          </a:p>
        </p:txBody>
      </p:sp>
      <p:sp>
        <p:nvSpPr>
          <p:cNvPr id="81" name="Shape 79"/>
          <p:cNvSpPr/>
          <p:nvPr/>
        </p:nvSpPr>
        <p:spPr>
          <a:xfrm>
            <a:off x="9601200" y="3832982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601200" y="3832982"/>
            <a:ext cx="1191943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082528" y="3744651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1.03x</a:t>
            </a:r>
            <a:endParaRPr lang="en-US" sz="640" dirty="0"/>
          </a:p>
        </p:txBody>
      </p:sp>
      <p:sp>
        <p:nvSpPr>
          <p:cNvPr id="84" name="Text 82"/>
          <p:cNvSpPr/>
          <p:nvPr/>
        </p:nvSpPr>
        <p:spPr>
          <a:xfrm>
            <a:off x="8321040" y="4375587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Weak-layer core</a:t>
            </a:r>
            <a:endParaRPr lang="en-US" sz="660" dirty="0"/>
          </a:p>
        </p:txBody>
      </p:sp>
      <p:sp>
        <p:nvSpPr>
          <p:cNvPr id="85" name="Shape 83"/>
          <p:cNvSpPr/>
          <p:nvPr/>
        </p:nvSpPr>
        <p:spPr>
          <a:xfrm>
            <a:off x="9601200" y="4463918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01200" y="4463918"/>
            <a:ext cx="1190781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82528" y="4375587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1.02x</a:t>
            </a:r>
            <a:endParaRPr lang="en-US" sz="640" dirty="0"/>
          </a:p>
        </p:txBody>
      </p:sp>
      <p:sp>
        <p:nvSpPr>
          <p:cNvPr id="88" name="Text 86"/>
          <p:cNvSpPr/>
          <p:nvPr/>
        </p:nvSpPr>
        <p:spPr>
          <a:xfrm>
            <a:off x="8321040" y="5006523"/>
            <a:ext cx="1207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4213D"/>
                </a:solidFill>
              </a:rPr>
              <a:t>Slab load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9601200" y="5094854"/>
            <a:ext cx="1417320" cy="227137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601200" y="5094854"/>
            <a:ext cx="1169870" cy="227137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082528" y="5006523"/>
            <a:ext cx="457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546A7B"/>
                </a:solidFill>
              </a:rPr>
              <a:t>1.01x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10762938" y="1773936"/>
            <a:ext cx="0" cy="3749040"/>
          </a:xfrm>
          <a:prstGeom prst="line">
            <a:avLst/>
          </a:prstGeom>
          <a:noFill/>
          <a:ln w="10160">
            <a:solidFill>
              <a:srgbClr val="14213D">
                <a:alpha val="9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790370" y="15910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4213D"/>
                </a:solidFill>
              </a:rPr>
              <a:t>1.0x</a:t>
            </a:r>
            <a:endParaRPr lang="en-US" sz="620" dirty="0"/>
          </a:p>
        </p:txBody>
      </p:sp>
      <p:sp>
        <p:nvSpPr>
          <p:cNvPr id="94" name="Text 92"/>
          <p:cNvSpPr/>
          <p:nvPr/>
        </p:nvSpPr>
        <p:spPr>
          <a:xfrm>
            <a:off x="1042416" y="587044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2E6F95"/>
                </a:solidFill>
              </a:rPr>
              <a:t>Primary</a:t>
            </a:r>
            <a:endParaRPr lang="en-US" sz="610" dirty="0"/>
          </a:p>
        </p:txBody>
      </p:sp>
      <p:sp>
        <p:nvSpPr>
          <p:cNvPr id="95" name="Shape 93"/>
          <p:cNvSpPr/>
          <p:nvPr/>
        </p:nvSpPr>
        <p:spPr>
          <a:xfrm>
            <a:off x="822960" y="5888736"/>
            <a:ext cx="146304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755648" y="587044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D56A2F"/>
                </a:solidFill>
              </a:rPr>
              <a:t>Sensitivity</a:t>
            </a:r>
            <a:endParaRPr lang="en-US" sz="610" dirty="0"/>
          </a:p>
        </p:txBody>
      </p:sp>
      <p:sp>
        <p:nvSpPr>
          <p:cNvPr id="97" name="Shape 95"/>
          <p:cNvSpPr/>
          <p:nvPr/>
        </p:nvSpPr>
        <p:spPr>
          <a:xfrm>
            <a:off x="1536192" y="5888736"/>
            <a:ext cx="146304" cy="73152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Figure recreated from notebook comparison plots; lift = enriched-cluster near-avalanche rate divided by retained baseline rate.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DIAGNOSTICS SAY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83564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91440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90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</a:rPr>
              <a:t>Strongest geometry split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0" y="14721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46A7B"/>
                </a:solidFill>
              </a:rPr>
              <a:t>Slab-load features produce the highest silhouette, but the enriched cluster is essentially at baseline near-avalanche rate.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1083564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23160"/>
            <a:ext cx="91440" cy="749808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87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</a:rPr>
              <a:t>Best near-avalanche enrichment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0" y="256946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46A7B"/>
                </a:solidFill>
              </a:rPr>
              <a:t>ECT response features produce the highest common-sample lift, but the signal is still modest at 1.17x.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1083564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520440"/>
            <a:ext cx="91440" cy="749808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</a:rPr>
              <a:t>More features are not automatically better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0" y="366674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46A7B"/>
                </a:solidFill>
              </a:rPr>
              <a:t>Combined physical + ECT features have lower silhouette and only small enrichment gains.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85800" y="4617720"/>
            <a:ext cx="1083564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617720"/>
            <a:ext cx="91440" cy="749808"/>
          </a:xfrm>
          <a:prstGeom prst="rect">
            <a:avLst/>
          </a:prstGeom>
          <a:solidFill>
            <a:srgbClr val="A7B4BE"/>
          </a:solidFill>
          <a:ln w="12700">
            <a:solidFill>
              <a:srgbClr val="A7B4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82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</a:rPr>
              <a:t>D11 stays in backup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0" y="476402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46A7B"/>
                </a:solidFill>
              </a:rPr>
              <a:t>D11 feature sets retain only about 4-5% of usable slabs, making them sensitivity checks rather than primary evidence.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5806440"/>
            <a:ext cx="10835640" cy="502920"/>
          </a:xfrm>
          <a:prstGeom prst="rect">
            <a:avLst>
              <a:gd name="adj" fmla="val 9091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806440"/>
            <a:ext cx="73152" cy="502920"/>
          </a:xfrm>
          <a:prstGeom prst="rect">
            <a:avLst/>
          </a:prstGeom>
          <a:solidFill>
            <a:srgbClr val="D56A2F"/>
          </a:solidFill>
          <a:ln w="12700">
            <a:solidFill>
              <a:srgbClr val="D56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934456"/>
            <a:ext cx="10543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</a:rPr>
              <a:t>Read the clusters as exploratory structure in feature space, not as a validated avalanche-stability decision rule.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Interpretation is based on common-sample rankings plus natural-retention coverage diagnostics.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TO USE THESE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Conclusions and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7B4BE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166360" cy="4133088"/>
          </a:xfrm>
          <a:prstGeom prst="rect">
            <a:avLst>
              <a:gd name="adj" fmla="val 1106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Conclusions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4480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Feature choice materially changes K=2 cluster geometry.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Silhouette and near-avalanche enrichment do not point to the same best feature set.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The near-avalanche signal is present but weak, especially given sparse one-sided labels.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298448"/>
            <a:ext cx="5166360" cy="4133088"/>
          </a:xfrm>
          <a:prstGeom prst="rect">
            <a:avLst>
              <a:gd name="adj" fmla="val 1106"/>
            </a:avLst>
          </a:prstGeom>
          <a:solidFill>
            <a:srgbClr val="FFFFFF"/>
          </a:solidFill>
          <a:ln w="10160">
            <a:solidFill>
              <a:srgbClr val="CAD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212848"/>
            <a:ext cx="44805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Refine avalanche-context labels and identify reliable comparison negatives if possible.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Test additional K values and non-spherical clustering methods as sensitivity checks.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</a:rPr>
              <a:t>- Move to supervised evaluation only if stable/unstable labels are defined with sufficient quality.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5742432"/>
            <a:ext cx="10789920" cy="566928"/>
          </a:xfrm>
          <a:prstGeom prst="rect">
            <a:avLst>
              <a:gd name="adj" fmla="val 8065"/>
            </a:avLst>
          </a:prstGeom>
          <a:solidFill>
            <a:srgbClr val="FFF8EE"/>
          </a:solidFill>
          <a:ln w="10160">
            <a:solidFill>
              <a:srgbClr val="E8C9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742432"/>
            <a:ext cx="73152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870448"/>
            <a:ext cx="10497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4213D"/>
                </a:solidFill>
              </a:rPr>
              <a:t>Recommended use: choose feature sets and future analyses, not operational stability classification.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CAD7D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601968"/>
            <a:ext cx="11173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46A7B"/>
                </a:solidFill>
              </a:rPr>
              <a:t>Deck based on the current notebook outputs, without modifying clustering_exploration.ipynb.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SnowPylot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Exploration Results</dc:title>
  <dc:subject>K-means feature-set diagnostics for SnowPylot slabs</dc:subject>
  <dc:creator>Codex</dc:creator>
  <cp:lastModifiedBy>Codex</cp:lastModifiedBy>
  <cp:revision>1</cp:revision>
  <dcterms:created xsi:type="dcterms:W3CDTF">2026-05-04T19:49:04Z</dcterms:created>
  <dcterms:modified xsi:type="dcterms:W3CDTF">2026-05-04T19:49:04Z</dcterms:modified>
</cp:coreProperties>
</file>